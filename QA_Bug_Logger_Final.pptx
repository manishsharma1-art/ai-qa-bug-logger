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56" r:id="rId4"/>
  </p:sldMasterIdLst>
  <p:notesMasterIdLst>
    <p:notesMasterId r:id="rId5"/>
  </p:notesMasterIdLst>
  <p:sldIdLst>
    <p:sldId id="256" r:id="rId10"/>
    <p:sldId id="257" r:id="rId9"/>
    <p:sldId id="258" r:id="rId8"/>
    <p:sldId id="259" r:id="rId7"/>
  </p:sldIdLst>
  <p:sldSz cy="6858000" cx="12192000"/>
  <p:notesSz cx="6858000" cy="9144000"/>
  <p:embeddedFontLst>
    <p:embeddedFont>
      <p:font typeface="Open Sans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hnFpBAjxHeuNcJvD0OkNuXG7ne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font" Target="fonts/OpenSans-regular.fntdata"/><Relationship Id="rId12" Type="http://schemas.openxmlformats.org/officeDocument/2006/relationships/font" Target="fonts/OpenSans-bold.fntdata"/><Relationship Id="rId13" Type="http://schemas.openxmlformats.org/officeDocument/2006/relationships/font" Target="fonts/OpenSans-italic.fntdata"/><Relationship Id="rId14" Type="http://schemas.openxmlformats.org/officeDocument/2006/relationships/font" Target="fonts/OpenSans-boldItalic.fntdata"/><Relationship Id="rId15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3e73352efb_0_415"/>
          <p:cNvSpPr txBox="1"/>
          <p:nvPr>
            <p:ph type="ctrTitle"/>
          </p:nvPr>
        </p:nvSpPr>
        <p:spPr>
          <a:xfrm>
            <a:off x="868392" y="1889185"/>
            <a:ext cx="63576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Open Sans"/>
              <a:buNone/>
              <a:defRPr b="1" sz="44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3" name="Google Shape;13;g33e73352efb_0_415"/>
          <p:cNvCxnSpPr/>
          <p:nvPr/>
        </p:nvCxnSpPr>
        <p:spPr>
          <a:xfrm rot="10800000">
            <a:off x="868262" y="2691442"/>
            <a:ext cx="5454900" cy="0"/>
          </a:xfrm>
          <a:prstGeom prst="straightConnector1">
            <a:avLst/>
          </a:prstGeom>
          <a:noFill/>
          <a:ln cap="flat" cmpd="sng" w="19050">
            <a:solidFill>
              <a:srgbClr val="BFBFBF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g33e73352efb_0_415"/>
          <p:cNvSpPr txBox="1"/>
          <p:nvPr>
            <p:ph idx="1" type="body"/>
          </p:nvPr>
        </p:nvSpPr>
        <p:spPr>
          <a:xfrm>
            <a:off x="868392" y="2821619"/>
            <a:ext cx="6357600" cy="8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>
                <a:solidFill>
                  <a:srgbClr val="002060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-slide">
  <p:cSld name="blank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3e73352efb_0_419"/>
          <p:cNvSpPr txBox="1"/>
          <p:nvPr>
            <p:ph type="title"/>
          </p:nvPr>
        </p:nvSpPr>
        <p:spPr>
          <a:xfrm>
            <a:off x="569343" y="66136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g33e73352efb_0_419"/>
          <p:cNvSpPr/>
          <p:nvPr/>
        </p:nvSpPr>
        <p:spPr>
          <a:xfrm>
            <a:off x="680180" y="136714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you-slide">
  <p:cSld name="thankyou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3e73352efb_0_422"/>
          <p:cNvSpPr/>
          <p:nvPr/>
        </p:nvSpPr>
        <p:spPr>
          <a:xfrm>
            <a:off x="0" y="1317432"/>
            <a:ext cx="12192000" cy="1921800"/>
          </a:xfrm>
          <a:prstGeom prst="rect">
            <a:avLst/>
          </a:prstGeom>
          <a:solidFill>
            <a:srgbClr val="372E83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g33e73352efb_0_422"/>
          <p:cNvSpPr txBox="1"/>
          <p:nvPr>
            <p:ph idx="1" type="body"/>
          </p:nvPr>
        </p:nvSpPr>
        <p:spPr>
          <a:xfrm>
            <a:off x="1976582" y="1792535"/>
            <a:ext cx="6999203" cy="110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  <a:defRPr b="1" sz="6500">
                <a:solidFill>
                  <a:schemeClr val="lt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00000"/>
              </a:buClr>
              <a:buSzPts val="7200"/>
              <a:buNone/>
              <a:defRPr sz="7200">
                <a:solidFill>
                  <a:srgbClr val="C00000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3e73352efb_0_425"/>
          <p:cNvSpPr txBox="1"/>
          <p:nvPr>
            <p:ph type="title"/>
          </p:nvPr>
        </p:nvSpPr>
        <p:spPr>
          <a:xfrm>
            <a:off x="637788" y="568608"/>
            <a:ext cx="88839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g33e73352efb_0_425"/>
          <p:cNvSpPr/>
          <p:nvPr/>
        </p:nvSpPr>
        <p:spPr>
          <a:xfrm>
            <a:off x="791016" y="1291628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g33e73352efb_0_425"/>
          <p:cNvSpPr/>
          <p:nvPr>
            <p:ph idx="2" type="pic"/>
          </p:nvPr>
        </p:nvSpPr>
        <p:spPr>
          <a:xfrm>
            <a:off x="569343" y="1630872"/>
            <a:ext cx="4659300" cy="4037100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g33e73352efb_0_425"/>
          <p:cNvSpPr txBox="1"/>
          <p:nvPr>
            <p:ph idx="1" type="body"/>
          </p:nvPr>
        </p:nvSpPr>
        <p:spPr>
          <a:xfrm>
            <a:off x="6763708" y="1623326"/>
            <a:ext cx="4356000" cy="5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g33e73352efb_0_425"/>
          <p:cNvSpPr txBox="1"/>
          <p:nvPr>
            <p:ph idx="3" type="body"/>
          </p:nvPr>
        </p:nvSpPr>
        <p:spPr>
          <a:xfrm>
            <a:off x="6797675" y="2544763"/>
            <a:ext cx="4305300" cy="31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s and text">
  <p:cSld name="Images and tex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3e73352efb_0_431"/>
          <p:cNvSpPr txBox="1"/>
          <p:nvPr>
            <p:ph type="title"/>
          </p:nvPr>
        </p:nvSpPr>
        <p:spPr>
          <a:xfrm>
            <a:off x="734993" y="56321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3e73352efb_0_431"/>
          <p:cNvSpPr/>
          <p:nvPr/>
        </p:nvSpPr>
        <p:spPr>
          <a:xfrm>
            <a:off x="837739" y="130976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3e73352efb_0_431"/>
          <p:cNvSpPr/>
          <p:nvPr>
            <p:ph idx="2" type="pic"/>
          </p:nvPr>
        </p:nvSpPr>
        <p:spPr>
          <a:xfrm>
            <a:off x="6229661" y="1300890"/>
            <a:ext cx="5124600" cy="4883100"/>
          </a:xfrm>
          <a:prstGeom prst="rect">
            <a:avLst/>
          </a:prstGeom>
          <a:noFill/>
          <a:ln>
            <a:noFill/>
          </a:ln>
        </p:spPr>
      </p:sp>
      <p:sp>
        <p:nvSpPr>
          <p:cNvPr id="31" name="Google Shape;31;g33e73352efb_0_431"/>
          <p:cNvSpPr txBox="1"/>
          <p:nvPr>
            <p:ph idx="1" type="body"/>
          </p:nvPr>
        </p:nvSpPr>
        <p:spPr>
          <a:xfrm>
            <a:off x="837739" y="1894140"/>
            <a:ext cx="2114700" cy="3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32136"/>
              </a:buClr>
              <a:buSzPts val="1950"/>
              <a:buNone/>
              <a:defRPr b="1" sz="1950">
                <a:solidFill>
                  <a:srgbClr val="032136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g33e73352efb_0_431"/>
          <p:cNvSpPr txBox="1"/>
          <p:nvPr>
            <p:ph idx="3" type="body"/>
          </p:nvPr>
        </p:nvSpPr>
        <p:spPr>
          <a:xfrm>
            <a:off x="624161" y="2349090"/>
            <a:ext cx="5605500" cy="27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72235"/>
              </a:buClr>
              <a:buSzPts val="1500"/>
              <a:buNone/>
              <a:defRPr sz="1500">
                <a:solidFill>
                  <a:srgbClr val="072235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text-slide">
  <p:cSld name="Data-text-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3e73352efb_0_437"/>
          <p:cNvSpPr txBox="1"/>
          <p:nvPr>
            <p:ph type="title"/>
          </p:nvPr>
        </p:nvSpPr>
        <p:spPr>
          <a:xfrm>
            <a:off x="480770" y="585136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3e73352efb_0_437"/>
          <p:cNvSpPr/>
          <p:nvPr/>
        </p:nvSpPr>
        <p:spPr>
          <a:xfrm>
            <a:off x="626479" y="1298236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3e73352efb_0_437"/>
          <p:cNvSpPr/>
          <p:nvPr>
            <p:ph idx="2" type="chart"/>
          </p:nvPr>
        </p:nvSpPr>
        <p:spPr>
          <a:xfrm>
            <a:off x="5805968" y="1656332"/>
            <a:ext cx="5167200" cy="39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g33e73352efb_0_437"/>
          <p:cNvSpPr txBox="1"/>
          <p:nvPr>
            <p:ph idx="1" type="body"/>
          </p:nvPr>
        </p:nvSpPr>
        <p:spPr>
          <a:xfrm>
            <a:off x="626479" y="1748695"/>
            <a:ext cx="3665400" cy="12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1F1F"/>
              </a:buClr>
              <a:buSzPts val="1600"/>
              <a:buNone/>
              <a:defRPr sz="16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ata-slide-2">
  <p:cSld name="data-slide-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3e73352efb_0_442"/>
          <p:cNvSpPr txBox="1"/>
          <p:nvPr>
            <p:ph type="title"/>
          </p:nvPr>
        </p:nvSpPr>
        <p:spPr>
          <a:xfrm>
            <a:off x="686162" y="566105"/>
            <a:ext cx="88839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g33e73352efb_0_442"/>
          <p:cNvSpPr/>
          <p:nvPr/>
        </p:nvSpPr>
        <p:spPr>
          <a:xfrm>
            <a:off x="772543" y="1359533"/>
            <a:ext cx="1613100" cy="777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3e73352efb_0_442"/>
          <p:cNvSpPr txBox="1"/>
          <p:nvPr>
            <p:ph idx="1" type="body"/>
          </p:nvPr>
        </p:nvSpPr>
        <p:spPr>
          <a:xfrm>
            <a:off x="702212" y="1736384"/>
            <a:ext cx="44259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None/>
              <a:defRPr sz="18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g33e73352efb_0_442"/>
          <p:cNvSpPr txBox="1"/>
          <p:nvPr>
            <p:ph idx="2" type="body"/>
          </p:nvPr>
        </p:nvSpPr>
        <p:spPr>
          <a:xfrm>
            <a:off x="702212" y="2542702"/>
            <a:ext cx="4425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228600" lvl="2" marL="13716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228600" lvl="3" marL="18288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228600" lvl="4" marL="22860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21F1F"/>
              </a:buClr>
              <a:buSzPts val="1000"/>
              <a:buNone/>
              <a:defRPr sz="1000">
                <a:solidFill>
                  <a:srgbClr val="221F1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g33e73352efb_0_442"/>
          <p:cNvSpPr/>
          <p:nvPr>
            <p:ph idx="3" type="chart"/>
          </p:nvPr>
        </p:nvSpPr>
        <p:spPr>
          <a:xfrm>
            <a:off x="5752234" y="1664002"/>
            <a:ext cx="5616600" cy="38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4a3eeb5441_12_6"/>
          <p:cNvSpPr txBox="1"/>
          <p:nvPr>
            <p:ph type="title"/>
          </p:nvPr>
        </p:nvSpPr>
        <p:spPr>
          <a:xfrm>
            <a:off x="569343" y="568626"/>
            <a:ext cx="8883770" cy="7131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3000"/>
              <a:buFont typeface="Open Sans"/>
              <a:buNone/>
              <a:defRPr b="1" sz="3000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4a3eeb5441_12_6"/>
          <p:cNvSpPr/>
          <p:nvPr/>
        </p:nvSpPr>
        <p:spPr>
          <a:xfrm>
            <a:off x="569343" y="1281802"/>
            <a:ext cx="1613140" cy="77638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g34a3eeb5441_12_6"/>
          <p:cNvSpPr/>
          <p:nvPr>
            <p:ph idx="2" type="pic"/>
          </p:nvPr>
        </p:nvSpPr>
        <p:spPr>
          <a:xfrm>
            <a:off x="569343" y="1630872"/>
            <a:ext cx="4659312" cy="4037013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g34a3eeb5441_12_6"/>
          <p:cNvSpPr txBox="1"/>
          <p:nvPr>
            <p:ph idx="1" type="body"/>
          </p:nvPr>
        </p:nvSpPr>
        <p:spPr>
          <a:xfrm>
            <a:off x="6763708" y="1623326"/>
            <a:ext cx="4356100" cy="5941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None/>
              <a:defRPr b="1">
                <a:solidFill>
                  <a:srgbClr val="002060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g34a3eeb5441_12_6"/>
          <p:cNvSpPr txBox="1"/>
          <p:nvPr>
            <p:ph idx="3" type="body"/>
          </p:nvPr>
        </p:nvSpPr>
        <p:spPr>
          <a:xfrm>
            <a:off x="6797675" y="2544763"/>
            <a:ext cx="4305300" cy="31226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02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indent="-3302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indent="-3302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3e73352efb_0_40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g33e73352efb_0_409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3e73352efb_0_409"/>
          <p:cNvSpPr txBox="1"/>
          <p:nvPr>
            <p:ph idx="10" type="dt"/>
          </p:nvPr>
        </p:nvSpPr>
        <p:spPr>
          <a:xfrm>
            <a:off x="8382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3e73352efb_0_409"/>
          <p:cNvSpPr txBox="1"/>
          <p:nvPr>
            <p:ph idx="11" type="ftr"/>
          </p:nvPr>
        </p:nvSpPr>
        <p:spPr>
          <a:xfrm>
            <a:off x="4038600" y="63563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3e73352efb_0_409"/>
          <p:cNvSpPr txBox="1"/>
          <p:nvPr>
            <p:ph idx="12" type="sldNum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4a3eeb5441_12_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6" name="Google Shape;46;g34a3eeb5441_12_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g34a3eeb5441_12_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g34a3eeb5441_12_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g34a3eeb5441_12_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F3F3F"/>
                </a:solidFill>
                <a:latin typeface="Open Sans"/>
              </a:rPr>
              <a:t>Manual QA Bug Logging — 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371600"/>
            <a:ext cx="1609344" cy="54864"/>
          </a:xfrm>
          <a:prstGeom prst="rect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01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Find Bug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During 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59152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02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Switch App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Open OpenProject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9664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03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Write Report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Title, steps, env…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0176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04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Upload Media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Screenshots / video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90688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05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Set Metadata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Priority, type, project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0" y="1828800"/>
            <a:ext cx="1645920" cy="137160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06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Submit &amp; Link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Share link in chat</a:t>
            </a:r>
          </a:p>
        </p:txBody>
      </p:sp>
      <p:sp>
        <p:nvSpPr>
          <p:cNvPr id="10" name="Chevron 9"/>
          <p:cNvSpPr/>
          <p:nvPr/>
        </p:nvSpPr>
        <p:spPr>
          <a:xfrm>
            <a:off x="2194560" y="2286000"/>
            <a:ext cx="164592" cy="365760"/>
          </a:xfrm>
          <a:prstGeom prst="chevron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4005072" y="2286000"/>
            <a:ext cx="164592" cy="365760"/>
          </a:xfrm>
          <a:prstGeom prst="chevron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5815584" y="2286000"/>
            <a:ext cx="164592" cy="365760"/>
          </a:xfrm>
          <a:prstGeom prst="chevron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626096" y="2286000"/>
            <a:ext cx="164592" cy="365760"/>
          </a:xfrm>
          <a:prstGeom prst="chevron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436608" y="2286000"/>
            <a:ext cx="164592" cy="365760"/>
          </a:xfrm>
          <a:prstGeom prst="chevron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40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8181B"/>
                </a:solidFill>
                <a:latin typeface="Open Sans"/>
              </a:defRPr>
            </a:pPr>
            <a:r>
              <a:t>5–10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434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F3F3F"/>
                </a:solidFill>
                <a:latin typeface="Open Sans"/>
              </a:defRPr>
            </a:pPr>
            <a:r>
              <a:t>Per Bug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840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8181B"/>
                </a:solidFill>
                <a:latin typeface="Open Sans"/>
              </a:defRPr>
            </a:pPr>
            <a:r>
              <a:t>1,500+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434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F3F3F"/>
                </a:solidFill>
                <a:latin typeface="Open Sans"/>
              </a:defRPr>
            </a:pPr>
            <a:r>
              <a:t>Bugs /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3840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8181B"/>
                </a:solidFill>
                <a:latin typeface="Open Sans"/>
              </a:defRPr>
            </a:pPr>
            <a:r>
              <a:t>125–250 hr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434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F3F3F"/>
                </a:solidFill>
                <a:latin typeface="Open Sans"/>
              </a:defRPr>
            </a:pPr>
            <a:r>
              <a:t>Wasted Monthly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840480"/>
            <a:ext cx="20116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8181B"/>
                </a:solidFill>
                <a:latin typeface="Open Sans"/>
              </a:defRPr>
            </a:pPr>
            <a:r>
              <a:t>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44348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3F3F3F"/>
                </a:solidFill>
                <a:latin typeface="Open Sans"/>
              </a:defRPr>
            </a:pPr>
            <a:r>
              <a:t>Context Switching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  <a:latin typeface="Open Sans"/>
              </a:defRPr>
            </a:pPr>
            <a:r>
              <a:t>⚠  QA Engineers spend more time documenting bugs than finding them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F3F3F"/>
                </a:solidFill>
                <a:latin typeface="Open Sans"/>
              </a:rPr>
              <a:t>QA Bug Logger Bot — 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371600"/>
            <a:ext cx="1609344" cy="54864"/>
          </a:xfrm>
          <a:prstGeom prst="rect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286000" cy="1645920"/>
          </a:xfrm>
          <a:prstGeom prst="roundRect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01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Drop in Chat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Text, screenshot</a:t>
            </a:r>
            <a:br/>
            <a:r>
              <a:t>or screen recording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011680"/>
            <a:ext cx="2286000" cy="1645920"/>
          </a:xfrm>
          <a:prstGeom prst="roundRect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02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Smart Routing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Regex + NLP picks</a:t>
            </a:r>
            <a:br/>
            <a:r>
              <a:t>correct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35040" y="2011680"/>
            <a:ext cx="2286000" cy="1645920"/>
          </a:xfrm>
          <a:prstGeom prst="roundRect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03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AI Analysis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Gemini 2.5 Flash +</a:t>
            </a:r>
            <a:br/>
            <a:r>
              <a:t>6.6K RAG Corpus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2011680"/>
            <a:ext cx="2286000" cy="1645920"/>
          </a:xfrm>
          <a:prstGeom prst="roundRect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>
              <a:defRPr sz="2800" b="1">
                <a:solidFill>
                  <a:srgbClr val="FFFFFF"/>
                </a:solidFill>
                <a:latin typeface="Open Sans"/>
              </a:defRPr>
            </a:pPr>
            <a:r>
              <a:t>04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FFFFFF"/>
                </a:solidFill>
                <a:latin typeface="Open Sans"/>
              </a:defRPr>
            </a:pPr>
            <a:r>
              <a:t>Ticket Created</a:t>
            </a:r>
          </a:p>
          <a:p>
            <a:pPr algn="ctr">
              <a:spcBef>
                <a:spcPts val="200"/>
              </a:spcBef>
              <a:defRPr sz="1000">
                <a:solidFill>
                  <a:srgbClr val="FFFFFF"/>
                </a:solidFill>
                <a:latin typeface="Open Sans"/>
              </a:defRPr>
            </a:pPr>
            <a:r>
              <a:t>OpenProject ticket</a:t>
            </a:r>
            <a:br/>
            <a:r>
              <a:t>+ media attached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61488" y="2560320"/>
            <a:ext cx="466344" cy="457200"/>
          </a:xfrm>
          <a:prstGeom prst="rightArrow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ight Arrow 8"/>
          <p:cNvSpPr/>
          <p:nvPr/>
        </p:nvSpPr>
        <p:spPr>
          <a:xfrm>
            <a:off x="5550408" y="2560320"/>
            <a:ext cx="466344" cy="457200"/>
          </a:xfrm>
          <a:prstGeom prst="rightArrow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ight Arrow 9"/>
          <p:cNvSpPr/>
          <p:nvPr/>
        </p:nvSpPr>
        <p:spPr>
          <a:xfrm>
            <a:off x="8339328" y="2560320"/>
            <a:ext cx="466344" cy="457200"/>
          </a:xfrm>
          <a:prstGeom prst="rightArrow">
            <a:avLst/>
          </a:prstGeom>
          <a:solidFill>
            <a:srgbClr val="3F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4206240"/>
            <a:ext cx="3474720" cy="1645920"/>
          </a:xfrm>
          <a:prstGeom prst="roundRect">
            <a:avLst/>
          </a:prstGeom>
          <a:solidFill>
            <a:srgbClr val="2D2D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>
              <a:defRPr sz="1600" b="1">
                <a:solidFill>
                  <a:srgbClr val="FFFFFF"/>
                </a:solidFill>
                <a:latin typeface="Open Sans"/>
              </a:defRPr>
            </a:pPr>
            <a:r>
              <a:t>⏱  Before (Manual)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7 min avg per ticket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Multiple app switches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Frequent misrouting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14800" y="4663440"/>
            <a:ext cx="731520" cy="640080"/>
          </a:xfrm>
          <a:prstGeom prst="rightArrow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29200" y="4206240"/>
            <a:ext cx="3474720" cy="1645920"/>
          </a:xfrm>
          <a:prstGeom prst="roundRect">
            <a:avLst/>
          </a:prstGeom>
          <a:solidFill>
            <a:srgbClr val="28A7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>
              <a:defRPr sz="1600" b="1">
                <a:solidFill>
                  <a:srgbClr val="FFFFFF"/>
                </a:solidFill>
                <a:latin typeface="Open Sans"/>
              </a:defRPr>
            </a:pPr>
            <a:r>
              <a:t>⚡ After (Bot)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30 sec avg per ticket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Zero context switching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99.8% routing accuracy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4206240"/>
            <a:ext cx="2743200" cy="1645920"/>
          </a:xfrm>
          <a:prstGeom prst="round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37160"/>
          <a:lstStyle/>
          <a:p>
            <a:pPr algn="ctr">
              <a:defRPr sz="4800" b="1">
                <a:solidFill>
                  <a:srgbClr val="28A745"/>
                </a:solidFill>
                <a:latin typeface="Open Sans"/>
              </a:defRPr>
            </a:pPr>
            <a:r>
              <a:t>93%</a:t>
            </a:r>
          </a:p>
          <a:p>
            <a:pPr algn="ctr">
              <a:defRPr sz="1600">
                <a:solidFill>
                  <a:srgbClr val="3F3F3F"/>
                </a:solidFill>
                <a:latin typeface="Open Sans"/>
              </a:defRPr>
            </a:pPr>
            <a:r>
              <a:t>Time Saved</a:t>
            </a:r>
            <a:br/>
            <a:r>
              <a:t>Per Ticket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F3F3F"/>
                </a:solidFill>
                <a:latin typeface="Open Sans"/>
              </a:rPr>
              <a:t>Cost Analysis — 1,500 Bugs / Month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371600"/>
            <a:ext cx="1609344" cy="54864"/>
          </a:xfrm>
          <a:prstGeom prst="rect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81B"/>
                </a:solidFill>
                <a:latin typeface="Open Sans"/>
              </a:defRPr>
            </a:pPr>
            <a:r>
              <a:t>Token Consumption Breakdown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103120"/>
          <a:ext cx="5029200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097280"/>
                <a:gridCol w="1371600"/>
                <a:gridCol w="10972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Component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Tokens/Bug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Monthly Total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Cost (USD)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Phase 1 (Text)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~4,200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6,300,000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$0.95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Phase 2 (Media)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~8,500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6,375,000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$0.96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RAG Retrieval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~3,000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4,500,000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$0.68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Bucket Picker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~800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120,000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$0.02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Smoke Test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~200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6,000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&lt;$0.01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~16,700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17,301,000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$2.61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0" y="164592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8181B"/>
                </a:solidFill>
                <a:latin typeface="Open Sans"/>
              </a:defRPr>
            </a:pPr>
            <a:r>
              <a:t>Cost Comparison: Manual vs Bot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0" y="2103120"/>
          <a:ext cx="5303520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201168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Metric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Manual QA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QA Bot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Time per ticket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7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30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Monthly hours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175 hrs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12.5 hrs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Engineer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₹2,62,500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₹0 (automated)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Cloud Run cost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₹1,250 /mo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LLM token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₹220 /mo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Total monthly cost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₹2,62,500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₹1,470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Monthly savings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₹2,61,030 ✓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457200" y="5303520"/>
            <a:ext cx="11247120" cy="731520"/>
          </a:xfrm>
          <a:prstGeom prst="rect">
            <a:avLst/>
          </a:prstGeom>
          <a:solidFill>
            <a:srgbClr val="28A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Open Sans"/>
              </a:defRPr>
            </a:pPr>
            <a:r>
              <a:t>💰  Net Savings: ₹2,61,030 / month  |  ROI: 177x  |  Payback: Day 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solidFill>
                  <a:srgbClr val="3F3F3F"/>
                </a:solidFill>
                <a:latin typeface="Open Sans"/>
              </a:rPr>
              <a:t>Market Comparison — How We Stand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76656" y="1371600"/>
            <a:ext cx="1609344" cy="54864"/>
          </a:xfrm>
          <a:prstGeom prst="rect">
            <a:avLst/>
          </a:prstGeom>
          <a:solidFill>
            <a:srgbClr val="C818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59536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645920"/>
                <a:gridCol w="1645920"/>
                <a:gridCol w="1645920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Feature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QA Bug Logger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Testim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BrowserStack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Open Sans"/>
                        </a:defRPr>
                      </a:pPr>
                      <a:r>
                        <a:t>Katalon AI</a:t>
                      </a:r>
                    </a:p>
                  </a:txBody>
                  <a:tcPr anchor="ctr">
                    <a:solidFill>
                      <a:srgbClr val="C8181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Monthly 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₹1,470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$450+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$300+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$200+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Per-ticket Cost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₹0.98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~₹25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~₹20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~₹15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Bug Detection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Manual (by QA)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Automated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Bug Reporting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Fully Automated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Manual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Semi-Auto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Video to Ticket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✓  30 sec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RAG Context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✓  6.6K corpus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Smart Routing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✓  34 projects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Basic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Chat Integration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✓  Google Chat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Slack (basic)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✗</a:t>
                      </a:r>
                    </a:p>
                  </a:txBody>
                  <a:tcPr anchor="ctr">
                    <a:solidFill>
                      <a:srgbClr val="F5F5F5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Self-hosted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✓  Cloud Run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SaaS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SaaS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F3F3F"/>
                          </a:solidFill>
                          <a:latin typeface="Open Sans"/>
                        </a:defRPr>
                      </a:pPr>
                      <a:r>
                        <a:t>SaaS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120640"/>
            <a:ext cx="11247120" cy="1097280"/>
          </a:xfrm>
          <a:prstGeom prst="roundRect">
            <a:avLst/>
          </a:prstGeom>
          <a:solidFill>
            <a:srgbClr val="C81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09728"/>
          <a:lstStyle/>
          <a:p>
            <a:pPr algn="l">
              <a:defRPr sz="1600" b="1">
                <a:solidFill>
                  <a:srgbClr val="FFFFFF"/>
                </a:solidFill>
                <a:latin typeface="Open Sans"/>
              </a:defRPr>
            </a:pPr>
            <a:r>
              <a:t>Our Edge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🔒 Zero SaaS vendor lock-in  •  Self-hosted on your own GCP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🧠 RAG-powered context from your own 6,600+ historical bugs  •  Gets smarter over time</a:t>
            </a:r>
          </a:p>
          <a:p>
            <a:pPr>
              <a:spcBef>
                <a:spcPts val="400"/>
              </a:spcBef>
              <a:spcAft>
                <a:spcPts val="200"/>
              </a:spcAft>
              <a:defRPr sz="1300">
                <a:solidFill>
                  <a:srgbClr val="FFFFFF"/>
                </a:solidFill>
                <a:latin typeface="Open Sans"/>
              </a:defRPr>
            </a:pPr>
            <a:r>
              <a:t>💬 Seamless Google Chat integration  •  No extra tool to learn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2_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2024-03-27T05:23:04Z</dcterms:created>
  <dc:creator>Naveen Kumar</dc:creator>
</cp:coreProperties>
</file>